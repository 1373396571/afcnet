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组合 108"/>
          <p:cNvGrpSpPr/>
          <p:nvPr/>
        </p:nvGrpSpPr>
        <p:grpSpPr>
          <a:xfrm>
            <a:off x="74295" y="67310"/>
            <a:ext cx="12042775" cy="6583045"/>
            <a:chOff x="112" y="349"/>
            <a:chExt cx="18965" cy="10367"/>
          </a:xfrm>
        </p:grpSpPr>
        <p:sp>
          <p:nvSpPr>
            <p:cNvPr id="103" name="圆角矩形 102"/>
            <p:cNvSpPr/>
            <p:nvPr/>
          </p:nvSpPr>
          <p:spPr>
            <a:xfrm>
              <a:off x="7625" y="455"/>
              <a:ext cx="11452" cy="376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7827" y="2671"/>
              <a:ext cx="3600" cy="1079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  <a:prstDash val="dash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8898" y="5398"/>
              <a:ext cx="10178" cy="523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2125" y="454"/>
              <a:ext cx="5387" cy="376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7" name="圆角矩形 66"/>
            <p:cNvSpPr/>
            <p:nvPr/>
          </p:nvSpPr>
          <p:spPr>
            <a:xfrm>
              <a:off x="5029" y="5398"/>
              <a:ext cx="3477" cy="5238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5" name="图片 4" descr="19000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66" y="2671"/>
              <a:ext cx="1650" cy="1321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6" name="图片 5" descr="19000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" y="929"/>
              <a:ext cx="1682" cy="1346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cxnSp>
          <p:nvCxnSpPr>
            <p:cNvPr id="8" name="直接箭头连接符 7"/>
            <p:cNvCxnSpPr/>
            <p:nvPr/>
          </p:nvCxnSpPr>
          <p:spPr>
            <a:xfrm flipV="1">
              <a:off x="1763" y="1353"/>
              <a:ext cx="558" cy="1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 flipV="1">
              <a:off x="1763" y="3182"/>
              <a:ext cx="546" cy="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圆角矩形 9"/>
            <p:cNvSpPr/>
            <p:nvPr/>
          </p:nvSpPr>
          <p:spPr>
            <a:xfrm>
              <a:off x="2321" y="1017"/>
              <a:ext cx="1025" cy="682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/>
                <a:t>CBS</a:t>
              </a:r>
              <a:endParaRPr lang="en-US" altLang="zh-CN" sz="1600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2309" y="2846"/>
              <a:ext cx="1025" cy="682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/>
                <a:t>CBS</a:t>
              </a:r>
              <a:endParaRPr lang="en-US" altLang="zh-CN" sz="1600"/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5017" y="1017"/>
              <a:ext cx="1025" cy="682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/>
                <a:t>CBS</a:t>
              </a:r>
              <a:endParaRPr lang="en-US" altLang="zh-CN" sz="1600"/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5029" y="2846"/>
              <a:ext cx="1025" cy="682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/>
                <a:t>CBS</a:t>
              </a:r>
              <a:endParaRPr lang="en-US" altLang="zh-CN" sz="1600"/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3669" y="1017"/>
              <a:ext cx="1025" cy="682"/>
            </a:xfrm>
            <a:prstGeom prst="roundRect">
              <a:avLst/>
            </a:prstGeom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1"/>
            </a:gradFill>
            <a:ln w="6350"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/>
                <a:t>FSE</a:t>
              </a:r>
              <a:endParaRPr lang="en-US" altLang="zh-CN" sz="1600"/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3669" y="2846"/>
              <a:ext cx="1025" cy="682"/>
            </a:xfrm>
            <a:prstGeom prst="roundRect">
              <a:avLst/>
            </a:prstGeom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/>
                <a:t>FSE</a:t>
              </a:r>
              <a:endParaRPr lang="en-US" altLang="zh-CN" sz="1600"/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6365" y="2846"/>
              <a:ext cx="1025" cy="682"/>
            </a:xfrm>
            <a:prstGeom prst="roundRect">
              <a:avLst/>
            </a:prstGeom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/>
                <a:t>FSE</a:t>
              </a:r>
              <a:endParaRPr lang="en-US" altLang="zh-CN" sz="1600"/>
            </a:p>
          </p:txBody>
        </p:sp>
        <p:sp>
          <p:nvSpPr>
            <p:cNvPr id="20" name="圆角矩形 19"/>
            <p:cNvSpPr/>
            <p:nvPr/>
          </p:nvSpPr>
          <p:spPr>
            <a:xfrm>
              <a:off x="6365" y="1017"/>
              <a:ext cx="1025" cy="682"/>
            </a:xfrm>
            <a:prstGeom prst="roundRect">
              <a:avLst/>
            </a:prstGeom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/>
                <a:t>FSE</a:t>
              </a:r>
              <a:endParaRPr lang="en-US" altLang="zh-CN" sz="1600"/>
            </a:p>
          </p:txBody>
        </p:sp>
        <p:cxnSp>
          <p:nvCxnSpPr>
            <p:cNvPr id="21" name="直接箭头连接符 20"/>
            <p:cNvCxnSpPr>
              <a:stCxn id="17" idx="3"/>
              <a:endCxn id="14" idx="1"/>
            </p:cNvCxnSpPr>
            <p:nvPr/>
          </p:nvCxnSpPr>
          <p:spPr>
            <a:xfrm>
              <a:off x="4694" y="1358"/>
              <a:ext cx="32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10" idx="3"/>
              <a:endCxn id="17" idx="1"/>
            </p:cNvCxnSpPr>
            <p:nvPr/>
          </p:nvCxnSpPr>
          <p:spPr>
            <a:xfrm>
              <a:off x="3346" y="1358"/>
              <a:ext cx="32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12" idx="3"/>
              <a:endCxn id="18" idx="1"/>
            </p:cNvCxnSpPr>
            <p:nvPr/>
          </p:nvCxnSpPr>
          <p:spPr>
            <a:xfrm>
              <a:off x="3334" y="3187"/>
              <a:ext cx="33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18" idx="3"/>
              <a:endCxn id="15" idx="1"/>
            </p:cNvCxnSpPr>
            <p:nvPr/>
          </p:nvCxnSpPr>
          <p:spPr>
            <a:xfrm>
              <a:off x="4694" y="3187"/>
              <a:ext cx="33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15" idx="3"/>
              <a:endCxn id="19" idx="1"/>
            </p:cNvCxnSpPr>
            <p:nvPr/>
          </p:nvCxnSpPr>
          <p:spPr>
            <a:xfrm>
              <a:off x="6054" y="3187"/>
              <a:ext cx="31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14" idx="3"/>
              <a:endCxn id="20" idx="1"/>
            </p:cNvCxnSpPr>
            <p:nvPr/>
          </p:nvCxnSpPr>
          <p:spPr>
            <a:xfrm>
              <a:off x="6042" y="1358"/>
              <a:ext cx="32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8" name="圆角矩形 27"/>
            <p:cNvSpPr/>
            <p:nvPr/>
          </p:nvSpPr>
          <p:spPr>
            <a:xfrm>
              <a:off x="17156" y="8814"/>
              <a:ext cx="1104" cy="792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UPSAMPLE</a:t>
              </a:r>
              <a:endParaRPr lang="en-US" altLang="zh-CN" sz="1200"/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12885" y="2850"/>
              <a:ext cx="1071" cy="686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/>
                <a:t>Sv2B</a:t>
              </a:r>
              <a:endParaRPr lang="en-US" altLang="zh-CN" sz="1400"/>
            </a:p>
          </p:txBody>
        </p:sp>
        <p:sp>
          <p:nvSpPr>
            <p:cNvPr id="32" name="圆角矩形 31"/>
            <p:cNvSpPr/>
            <p:nvPr/>
          </p:nvSpPr>
          <p:spPr>
            <a:xfrm>
              <a:off x="10339" y="2850"/>
              <a:ext cx="1071" cy="686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/>
                <a:t>C3K2</a:t>
              </a:r>
              <a:endParaRPr lang="en-US" altLang="zh-CN" sz="1400"/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7827" y="2850"/>
              <a:ext cx="1070" cy="685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/>
                <a:t>C3K2</a:t>
              </a:r>
              <a:endParaRPr lang="en-US" altLang="zh-CN" sz="1400"/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9087" y="2850"/>
              <a:ext cx="1071" cy="686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/>
                <a:t>CBS</a:t>
              </a:r>
              <a:endParaRPr lang="en-US" altLang="zh-CN" sz="1600"/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11610" y="2849"/>
              <a:ext cx="1071" cy="686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/>
                <a:t>Sv2B</a:t>
              </a:r>
              <a:endParaRPr lang="en-US" altLang="zh-CN" sz="1400"/>
            </a:p>
          </p:txBody>
        </p:sp>
        <p:cxnSp>
          <p:nvCxnSpPr>
            <p:cNvPr id="41" name="直接箭头连接符 40"/>
            <p:cNvCxnSpPr>
              <a:stCxn id="19" idx="3"/>
              <a:endCxn id="33" idx="1"/>
            </p:cNvCxnSpPr>
            <p:nvPr/>
          </p:nvCxnSpPr>
          <p:spPr>
            <a:xfrm>
              <a:off x="7390" y="3187"/>
              <a:ext cx="437" cy="6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" name="圆角矩形 43"/>
            <p:cNvSpPr/>
            <p:nvPr/>
          </p:nvSpPr>
          <p:spPr>
            <a:xfrm>
              <a:off x="14643" y="6624"/>
              <a:ext cx="1104" cy="792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UPSAMPLE</a:t>
              </a:r>
              <a:endParaRPr lang="en-US" altLang="zh-CN" sz="1200"/>
            </a:p>
          </p:txBody>
        </p:sp>
        <p:sp>
          <p:nvSpPr>
            <p:cNvPr id="45" name="圆角矩形 44"/>
            <p:cNvSpPr/>
            <p:nvPr/>
          </p:nvSpPr>
          <p:spPr>
            <a:xfrm>
              <a:off x="12334" y="5570"/>
              <a:ext cx="1103" cy="794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/>
                <a:t>C3K2</a:t>
              </a:r>
              <a:endParaRPr lang="en-US" altLang="zh-CN" sz="1400"/>
            </a:p>
          </p:txBody>
        </p:sp>
        <p:sp>
          <p:nvSpPr>
            <p:cNvPr id="46" name="圆角矩形 45"/>
            <p:cNvSpPr/>
            <p:nvPr/>
          </p:nvSpPr>
          <p:spPr>
            <a:xfrm>
              <a:off x="15747" y="7675"/>
              <a:ext cx="1104" cy="792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C3K2</a:t>
              </a:r>
              <a:endParaRPr lang="en-US" altLang="zh-CN" sz="1200"/>
            </a:p>
          </p:txBody>
        </p:sp>
        <p:sp>
          <p:nvSpPr>
            <p:cNvPr id="47" name="圆角矩形 46"/>
            <p:cNvSpPr/>
            <p:nvPr/>
          </p:nvSpPr>
          <p:spPr>
            <a:xfrm>
              <a:off x="17156" y="7675"/>
              <a:ext cx="1104" cy="792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CONCAT</a:t>
              </a:r>
              <a:endParaRPr lang="en-US" altLang="zh-CN" sz="1200"/>
            </a:p>
          </p:txBody>
        </p:sp>
        <p:sp>
          <p:nvSpPr>
            <p:cNvPr id="48" name="圆角矩形 47"/>
            <p:cNvSpPr/>
            <p:nvPr/>
          </p:nvSpPr>
          <p:spPr>
            <a:xfrm>
              <a:off x="14643" y="5572"/>
              <a:ext cx="1104" cy="792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CONCAT</a:t>
              </a:r>
              <a:endParaRPr lang="en-US" altLang="zh-CN" sz="1200"/>
            </a:p>
          </p:txBody>
        </p:sp>
        <p:sp>
          <p:nvSpPr>
            <p:cNvPr id="51" name="圆角矩形 50"/>
            <p:cNvSpPr/>
            <p:nvPr/>
          </p:nvSpPr>
          <p:spPr>
            <a:xfrm>
              <a:off x="10958" y="4388"/>
              <a:ext cx="1104" cy="792"/>
            </a:xfrm>
            <a:prstGeom prst="roundRect">
              <a:avLst/>
            </a:prstGeom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DSDA</a:t>
              </a:r>
              <a:endParaRPr lang="en-US" altLang="zh-CN" sz="1200"/>
            </a:p>
          </p:txBody>
        </p:sp>
        <p:sp>
          <p:nvSpPr>
            <p:cNvPr id="52" name="圆角矩形 51"/>
            <p:cNvSpPr/>
            <p:nvPr/>
          </p:nvSpPr>
          <p:spPr>
            <a:xfrm>
              <a:off x="13488" y="4388"/>
              <a:ext cx="1104" cy="792"/>
            </a:xfrm>
            <a:prstGeom prst="roundRect">
              <a:avLst/>
            </a:prstGeom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DSDA</a:t>
              </a:r>
              <a:endParaRPr lang="en-US" altLang="zh-CN" sz="1200"/>
            </a:p>
          </p:txBody>
        </p:sp>
        <p:sp>
          <p:nvSpPr>
            <p:cNvPr id="53" name="圆角矩形 52"/>
            <p:cNvSpPr/>
            <p:nvPr/>
          </p:nvSpPr>
          <p:spPr>
            <a:xfrm>
              <a:off x="17972" y="4388"/>
              <a:ext cx="1104" cy="792"/>
            </a:xfrm>
            <a:prstGeom prst="roundRect">
              <a:avLst/>
            </a:prstGeom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DSDA</a:t>
              </a:r>
              <a:endParaRPr lang="en-US" altLang="zh-CN" sz="1200"/>
            </a:p>
          </p:txBody>
        </p:sp>
        <p:sp>
          <p:nvSpPr>
            <p:cNvPr id="54" name="圆角矩形 53"/>
            <p:cNvSpPr/>
            <p:nvPr/>
          </p:nvSpPr>
          <p:spPr>
            <a:xfrm>
              <a:off x="6952" y="9716"/>
              <a:ext cx="1104" cy="792"/>
            </a:xfrm>
            <a:prstGeom prst="roundRect">
              <a:avLst/>
            </a:prstGeom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LDC</a:t>
              </a:r>
              <a:endParaRPr lang="en-US" altLang="zh-CN" sz="1200"/>
            </a:p>
          </p:txBody>
        </p:sp>
        <p:sp>
          <p:nvSpPr>
            <p:cNvPr id="55" name="圆角矩形 54"/>
            <p:cNvSpPr/>
            <p:nvPr/>
          </p:nvSpPr>
          <p:spPr>
            <a:xfrm>
              <a:off x="6952" y="7621"/>
              <a:ext cx="1104" cy="792"/>
            </a:xfrm>
            <a:prstGeom prst="roundRect">
              <a:avLst/>
            </a:prstGeom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LDC</a:t>
              </a:r>
              <a:endParaRPr lang="en-US" altLang="zh-CN" sz="1200"/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6952" y="5572"/>
              <a:ext cx="1104" cy="792"/>
            </a:xfrm>
            <a:prstGeom prst="roundRect">
              <a:avLst/>
            </a:prstGeom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LDC</a:t>
              </a:r>
              <a:endParaRPr lang="en-US" altLang="zh-CN" sz="1200"/>
            </a:p>
          </p:txBody>
        </p:sp>
        <p:cxnSp>
          <p:nvCxnSpPr>
            <p:cNvPr id="57" name="直接箭头连接符 56"/>
            <p:cNvCxnSpPr>
              <a:stCxn id="45" idx="1"/>
              <a:endCxn id="56" idx="3"/>
            </p:cNvCxnSpPr>
            <p:nvPr/>
          </p:nvCxnSpPr>
          <p:spPr>
            <a:xfrm flipH="1">
              <a:off x="8056" y="5967"/>
              <a:ext cx="4278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9" name="圆角矩形 58"/>
            <p:cNvSpPr/>
            <p:nvPr/>
          </p:nvSpPr>
          <p:spPr>
            <a:xfrm>
              <a:off x="12334" y="6624"/>
              <a:ext cx="1106" cy="794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/>
                <a:t>CBS</a:t>
              </a:r>
              <a:endParaRPr lang="en-US" altLang="zh-CN" sz="1600"/>
            </a:p>
          </p:txBody>
        </p:sp>
        <p:sp>
          <p:nvSpPr>
            <p:cNvPr id="60" name="圆角矩形 59"/>
            <p:cNvSpPr/>
            <p:nvPr/>
          </p:nvSpPr>
          <p:spPr>
            <a:xfrm>
              <a:off x="10873" y="8661"/>
              <a:ext cx="1106" cy="794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/>
                <a:t>CBS</a:t>
              </a:r>
              <a:endParaRPr lang="en-US" altLang="zh-CN" sz="1600"/>
            </a:p>
          </p:txBody>
        </p:sp>
        <p:sp>
          <p:nvSpPr>
            <p:cNvPr id="61" name="圆角矩形 60"/>
            <p:cNvSpPr/>
            <p:nvPr/>
          </p:nvSpPr>
          <p:spPr>
            <a:xfrm>
              <a:off x="5388" y="5571"/>
              <a:ext cx="1166" cy="4937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/>
                <a:t>head</a:t>
              </a:r>
              <a:endParaRPr lang="en-US" altLang="zh-CN" sz="1600"/>
            </a:p>
          </p:txBody>
        </p:sp>
        <p:sp>
          <p:nvSpPr>
            <p:cNvPr id="62" name="圆角矩形 61"/>
            <p:cNvSpPr/>
            <p:nvPr/>
          </p:nvSpPr>
          <p:spPr>
            <a:xfrm>
              <a:off x="12336" y="7675"/>
              <a:ext cx="1104" cy="792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CONCAT</a:t>
              </a:r>
              <a:endParaRPr lang="en-US" altLang="zh-CN" sz="1200"/>
            </a:p>
          </p:txBody>
        </p:sp>
        <p:sp>
          <p:nvSpPr>
            <p:cNvPr id="63" name="圆角矩形 62"/>
            <p:cNvSpPr/>
            <p:nvPr/>
          </p:nvSpPr>
          <p:spPr>
            <a:xfrm>
              <a:off x="10875" y="7675"/>
              <a:ext cx="1104" cy="792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C3K2</a:t>
              </a:r>
              <a:endParaRPr lang="en-US" altLang="zh-CN" sz="1200"/>
            </a:p>
          </p:txBody>
        </p:sp>
        <p:sp>
          <p:nvSpPr>
            <p:cNvPr id="65" name="圆角矩形 64"/>
            <p:cNvSpPr/>
            <p:nvPr/>
          </p:nvSpPr>
          <p:spPr>
            <a:xfrm>
              <a:off x="10873" y="9716"/>
              <a:ext cx="1104" cy="792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CONCAT</a:t>
              </a:r>
              <a:endParaRPr lang="en-US" altLang="zh-CN" sz="1200"/>
            </a:p>
          </p:txBody>
        </p:sp>
        <p:sp>
          <p:nvSpPr>
            <p:cNvPr id="66" name="圆角矩形 65"/>
            <p:cNvSpPr/>
            <p:nvPr/>
          </p:nvSpPr>
          <p:spPr>
            <a:xfrm>
              <a:off x="9417" y="9716"/>
              <a:ext cx="1104" cy="792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C3K2</a:t>
              </a:r>
              <a:endParaRPr lang="en-US" altLang="zh-CN" sz="1200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803" y="4098"/>
              <a:ext cx="117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RGB</a:t>
              </a:r>
              <a:endParaRPr lang="en-US" altLang="zh-CN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1116" y="349"/>
              <a:ext cx="51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ir</a:t>
              </a:r>
              <a:endParaRPr lang="en-US" altLang="zh-CN"/>
            </a:p>
          </p:txBody>
        </p:sp>
        <p:cxnSp>
          <p:nvCxnSpPr>
            <p:cNvPr id="72" name="直接箭头连接符 71"/>
            <p:cNvCxnSpPr>
              <a:stCxn id="33" idx="3"/>
              <a:endCxn id="34" idx="1"/>
            </p:cNvCxnSpPr>
            <p:nvPr/>
          </p:nvCxnSpPr>
          <p:spPr>
            <a:xfrm>
              <a:off x="8897" y="3193"/>
              <a:ext cx="19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3" name="直接箭头连接符 72"/>
            <p:cNvCxnSpPr>
              <a:stCxn id="34" idx="3"/>
              <a:endCxn id="32" idx="1"/>
            </p:cNvCxnSpPr>
            <p:nvPr/>
          </p:nvCxnSpPr>
          <p:spPr>
            <a:xfrm>
              <a:off x="10158" y="3193"/>
              <a:ext cx="18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4" name="直接箭头连接符 73"/>
            <p:cNvCxnSpPr>
              <a:stCxn id="32" idx="3"/>
              <a:endCxn id="35" idx="1"/>
            </p:cNvCxnSpPr>
            <p:nvPr/>
          </p:nvCxnSpPr>
          <p:spPr>
            <a:xfrm flipV="1">
              <a:off x="11410" y="3192"/>
              <a:ext cx="20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5" name="直接箭头连接符 74"/>
            <p:cNvCxnSpPr>
              <a:stCxn id="35" idx="3"/>
              <a:endCxn id="30" idx="1"/>
            </p:cNvCxnSpPr>
            <p:nvPr/>
          </p:nvCxnSpPr>
          <p:spPr>
            <a:xfrm>
              <a:off x="12681" y="3192"/>
              <a:ext cx="204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7" name="直接箭头连接符 76"/>
            <p:cNvCxnSpPr>
              <a:stCxn id="36" idx="3"/>
              <a:endCxn id="36" idx="3"/>
            </p:cNvCxnSpPr>
            <p:nvPr/>
          </p:nvCxnSpPr>
          <p:spPr>
            <a:xfrm>
              <a:off x="15195" y="3193"/>
              <a:ext cx="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2" name="圆角矩形 81"/>
            <p:cNvSpPr/>
            <p:nvPr/>
          </p:nvSpPr>
          <p:spPr>
            <a:xfrm>
              <a:off x="12885" y="1017"/>
              <a:ext cx="1071" cy="686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/>
                <a:t>Sv2B</a:t>
              </a:r>
              <a:endParaRPr lang="en-US" altLang="zh-CN" sz="1400"/>
            </a:p>
          </p:txBody>
        </p:sp>
        <p:sp>
          <p:nvSpPr>
            <p:cNvPr id="83" name="圆角矩形 82"/>
            <p:cNvSpPr/>
            <p:nvPr/>
          </p:nvSpPr>
          <p:spPr>
            <a:xfrm>
              <a:off x="15404" y="1017"/>
              <a:ext cx="1071" cy="686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/>
                <a:t>Sv2B</a:t>
              </a:r>
              <a:endParaRPr lang="en-US" altLang="zh-CN" sz="1400"/>
            </a:p>
          </p:txBody>
        </p:sp>
        <p:sp>
          <p:nvSpPr>
            <p:cNvPr id="84" name="圆角矩形 83"/>
            <p:cNvSpPr/>
            <p:nvPr/>
          </p:nvSpPr>
          <p:spPr>
            <a:xfrm>
              <a:off x="10339" y="1017"/>
              <a:ext cx="1071" cy="686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/>
                <a:t>C3K2</a:t>
              </a:r>
              <a:endParaRPr lang="en-US" altLang="zh-CN" sz="1400"/>
            </a:p>
          </p:txBody>
        </p:sp>
        <p:sp>
          <p:nvSpPr>
            <p:cNvPr id="85" name="圆角矩形 84"/>
            <p:cNvSpPr/>
            <p:nvPr/>
          </p:nvSpPr>
          <p:spPr>
            <a:xfrm>
              <a:off x="7827" y="1017"/>
              <a:ext cx="1070" cy="685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/>
                <a:t>C3K2</a:t>
              </a:r>
              <a:endParaRPr lang="en-US" altLang="zh-CN" sz="1400"/>
            </a:p>
          </p:txBody>
        </p:sp>
        <p:sp>
          <p:nvSpPr>
            <p:cNvPr id="86" name="圆角矩形 85"/>
            <p:cNvSpPr/>
            <p:nvPr/>
          </p:nvSpPr>
          <p:spPr>
            <a:xfrm>
              <a:off x="9097" y="1017"/>
              <a:ext cx="1071" cy="686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/>
                <a:t>CBS</a:t>
              </a:r>
              <a:endParaRPr lang="en-US" altLang="zh-CN" sz="1600"/>
            </a:p>
          </p:txBody>
        </p:sp>
        <p:sp>
          <p:nvSpPr>
            <p:cNvPr id="87" name="圆角矩形 86"/>
            <p:cNvSpPr/>
            <p:nvPr/>
          </p:nvSpPr>
          <p:spPr>
            <a:xfrm>
              <a:off x="11610" y="1017"/>
              <a:ext cx="1071" cy="686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/>
                <a:t>Sv2B</a:t>
              </a:r>
              <a:endParaRPr lang="en-US" altLang="zh-CN" sz="1400"/>
            </a:p>
          </p:txBody>
        </p:sp>
        <p:sp>
          <p:nvSpPr>
            <p:cNvPr id="88" name="圆角矩形 87"/>
            <p:cNvSpPr/>
            <p:nvPr/>
          </p:nvSpPr>
          <p:spPr>
            <a:xfrm>
              <a:off x="14124" y="1017"/>
              <a:ext cx="1071" cy="686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/>
                <a:t>Sv2B</a:t>
              </a:r>
              <a:endParaRPr lang="en-US" altLang="zh-CN" sz="1400"/>
            </a:p>
          </p:txBody>
        </p:sp>
        <p:sp>
          <p:nvSpPr>
            <p:cNvPr id="89" name="圆角矩形 88"/>
            <p:cNvSpPr/>
            <p:nvPr/>
          </p:nvSpPr>
          <p:spPr>
            <a:xfrm>
              <a:off x="16669" y="1016"/>
              <a:ext cx="1071" cy="686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400">
                  <a:sym typeface="+mn-ea"/>
                </a:rPr>
                <a:t>SPPF</a:t>
              </a:r>
              <a:endParaRPr lang="en-US" altLang="zh-CN" sz="1400">
                <a:sym typeface="+mn-ea"/>
              </a:endParaRPr>
            </a:p>
          </p:txBody>
        </p:sp>
        <p:sp>
          <p:nvSpPr>
            <p:cNvPr id="90" name="圆角矩形 89"/>
            <p:cNvSpPr/>
            <p:nvPr/>
          </p:nvSpPr>
          <p:spPr>
            <a:xfrm>
              <a:off x="17906" y="1017"/>
              <a:ext cx="1071" cy="686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400">
                  <a:sym typeface="+mn-ea"/>
                </a:rPr>
                <a:t>C2PSA</a:t>
              </a:r>
              <a:endParaRPr lang="en-US" altLang="zh-CN" sz="1400">
                <a:sym typeface="+mn-ea"/>
              </a:endParaRPr>
            </a:p>
          </p:txBody>
        </p:sp>
        <p:cxnSp>
          <p:nvCxnSpPr>
            <p:cNvPr id="91" name="直接箭头连接符 90"/>
            <p:cNvCxnSpPr>
              <a:stCxn id="85" idx="3"/>
              <a:endCxn id="86" idx="1"/>
            </p:cNvCxnSpPr>
            <p:nvPr/>
          </p:nvCxnSpPr>
          <p:spPr>
            <a:xfrm>
              <a:off x="8897" y="1360"/>
              <a:ext cx="2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2" name="直接箭头连接符 91"/>
            <p:cNvCxnSpPr>
              <a:stCxn id="86" idx="3"/>
              <a:endCxn id="84" idx="1"/>
            </p:cNvCxnSpPr>
            <p:nvPr/>
          </p:nvCxnSpPr>
          <p:spPr>
            <a:xfrm>
              <a:off x="10168" y="1360"/>
              <a:ext cx="17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3" name="直接箭头连接符 92"/>
            <p:cNvCxnSpPr>
              <a:stCxn id="84" idx="3"/>
              <a:endCxn id="87" idx="1"/>
            </p:cNvCxnSpPr>
            <p:nvPr/>
          </p:nvCxnSpPr>
          <p:spPr>
            <a:xfrm>
              <a:off x="11410" y="1360"/>
              <a:ext cx="2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4" name="直接箭头连接符 93"/>
            <p:cNvCxnSpPr>
              <a:stCxn id="87" idx="3"/>
              <a:endCxn id="82" idx="1"/>
            </p:cNvCxnSpPr>
            <p:nvPr/>
          </p:nvCxnSpPr>
          <p:spPr>
            <a:xfrm>
              <a:off x="12681" y="1360"/>
              <a:ext cx="20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5" name="直接箭头连接符 94"/>
            <p:cNvCxnSpPr>
              <a:stCxn id="82" idx="3"/>
              <a:endCxn id="88" idx="1"/>
            </p:cNvCxnSpPr>
            <p:nvPr/>
          </p:nvCxnSpPr>
          <p:spPr>
            <a:xfrm>
              <a:off x="13956" y="1360"/>
              <a:ext cx="16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6" name="直接箭头连接符 95"/>
            <p:cNvCxnSpPr>
              <a:stCxn id="88" idx="3"/>
              <a:endCxn id="83" idx="1"/>
            </p:cNvCxnSpPr>
            <p:nvPr/>
          </p:nvCxnSpPr>
          <p:spPr>
            <a:xfrm>
              <a:off x="15195" y="1360"/>
              <a:ext cx="20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7" name="直接箭头连接符 96"/>
            <p:cNvCxnSpPr>
              <a:stCxn id="83" idx="3"/>
              <a:endCxn id="89" idx="1"/>
            </p:cNvCxnSpPr>
            <p:nvPr/>
          </p:nvCxnSpPr>
          <p:spPr>
            <a:xfrm flipV="1">
              <a:off x="16475" y="1359"/>
              <a:ext cx="194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8" name="直接箭头连接符 97"/>
            <p:cNvCxnSpPr>
              <a:stCxn id="89" idx="3"/>
              <a:endCxn id="90" idx="1"/>
            </p:cNvCxnSpPr>
            <p:nvPr/>
          </p:nvCxnSpPr>
          <p:spPr>
            <a:xfrm>
              <a:off x="17740" y="1359"/>
              <a:ext cx="166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9" name="直接箭头连接符 98"/>
            <p:cNvCxnSpPr>
              <a:stCxn id="20" idx="3"/>
              <a:endCxn id="85" idx="1"/>
            </p:cNvCxnSpPr>
            <p:nvPr/>
          </p:nvCxnSpPr>
          <p:spPr>
            <a:xfrm>
              <a:off x="7390" y="1358"/>
              <a:ext cx="437" cy="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2" name="椭圆 111"/>
            <p:cNvSpPr>
              <a:spLocks noChangeAspect="1"/>
            </p:cNvSpPr>
            <p:nvPr/>
          </p:nvSpPr>
          <p:spPr>
            <a:xfrm>
              <a:off x="13165" y="2019"/>
              <a:ext cx="511" cy="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C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cxnSp>
          <p:nvCxnSpPr>
            <p:cNvPr id="117" name="直接箭头连接符 116"/>
            <p:cNvCxnSpPr>
              <a:stCxn id="82" idx="2"/>
              <a:endCxn id="112" idx="0"/>
            </p:cNvCxnSpPr>
            <p:nvPr/>
          </p:nvCxnSpPr>
          <p:spPr>
            <a:xfrm>
              <a:off x="13421" y="1703"/>
              <a:ext cx="0" cy="31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8" name="直接箭头连接符 117"/>
            <p:cNvCxnSpPr>
              <a:stCxn id="30" idx="0"/>
              <a:endCxn id="112" idx="4"/>
            </p:cNvCxnSpPr>
            <p:nvPr/>
          </p:nvCxnSpPr>
          <p:spPr>
            <a:xfrm flipV="1">
              <a:off x="13421" y="2530"/>
              <a:ext cx="0" cy="32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2" name="肘形连接符 121"/>
            <p:cNvCxnSpPr/>
            <p:nvPr/>
          </p:nvCxnSpPr>
          <p:spPr>
            <a:xfrm>
              <a:off x="13676" y="2274"/>
              <a:ext cx="364" cy="2113"/>
            </a:xfrm>
            <a:prstGeom prst="bentConnector2">
              <a:avLst/>
            </a:prstGeom>
            <a:ln w="12700" cap="flat" cmpd="sng" algn="ctr">
              <a:solidFill>
                <a:schemeClr val="accent6"/>
              </a:solidFill>
              <a:prstDash val="sys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5" name="肘形连接符 124"/>
            <p:cNvCxnSpPr>
              <a:stCxn id="53" idx="2"/>
              <a:endCxn id="28" idx="3"/>
            </p:cNvCxnSpPr>
            <p:nvPr/>
          </p:nvCxnSpPr>
          <p:spPr>
            <a:xfrm rot="5400000">
              <a:off x="16377" y="7063"/>
              <a:ext cx="4030" cy="264"/>
            </a:xfrm>
            <a:prstGeom prst="bentConnector2">
              <a:avLst/>
            </a:prstGeom>
            <a:ln>
              <a:solidFill>
                <a:schemeClr val="accent5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箭头连接符 127"/>
            <p:cNvCxnSpPr>
              <a:stCxn id="28" idx="0"/>
              <a:endCxn id="47" idx="2"/>
            </p:cNvCxnSpPr>
            <p:nvPr/>
          </p:nvCxnSpPr>
          <p:spPr>
            <a:xfrm flipV="1">
              <a:off x="17708" y="8467"/>
              <a:ext cx="0" cy="34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9" name="直接箭头连接符 128"/>
            <p:cNvCxnSpPr>
              <a:stCxn id="47" idx="1"/>
              <a:endCxn id="46" idx="3"/>
            </p:cNvCxnSpPr>
            <p:nvPr/>
          </p:nvCxnSpPr>
          <p:spPr>
            <a:xfrm flipH="1">
              <a:off x="16851" y="8071"/>
              <a:ext cx="30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2" name="肘形连接符 131"/>
            <p:cNvCxnSpPr>
              <a:stCxn id="46" idx="0"/>
              <a:endCxn id="44" idx="3"/>
            </p:cNvCxnSpPr>
            <p:nvPr/>
          </p:nvCxnSpPr>
          <p:spPr>
            <a:xfrm rot="16200000" flipV="1">
              <a:off x="15696" y="7072"/>
              <a:ext cx="655" cy="552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3" name="直接箭头连接符 132"/>
            <p:cNvCxnSpPr>
              <a:stCxn id="44" idx="0"/>
              <a:endCxn id="48" idx="2"/>
            </p:cNvCxnSpPr>
            <p:nvPr/>
          </p:nvCxnSpPr>
          <p:spPr>
            <a:xfrm flipV="1">
              <a:off x="15195" y="6364"/>
              <a:ext cx="0" cy="26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4" name="肘形连接符 133"/>
            <p:cNvCxnSpPr>
              <a:stCxn id="52" idx="3"/>
              <a:endCxn id="47" idx="0"/>
            </p:cNvCxnSpPr>
            <p:nvPr/>
          </p:nvCxnSpPr>
          <p:spPr>
            <a:xfrm>
              <a:off x="14592" y="4784"/>
              <a:ext cx="3116" cy="2891"/>
            </a:xfrm>
            <a:prstGeom prst="bentConnector2">
              <a:avLst/>
            </a:prstGeom>
            <a:ln>
              <a:solidFill>
                <a:schemeClr val="accent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5" name="肘形连接符 134"/>
            <p:cNvCxnSpPr>
              <a:endCxn id="48" idx="0"/>
            </p:cNvCxnSpPr>
            <p:nvPr/>
          </p:nvCxnSpPr>
          <p:spPr>
            <a:xfrm>
              <a:off x="12567" y="5319"/>
              <a:ext cx="2628" cy="253"/>
            </a:xfrm>
            <a:prstGeom prst="bentConnector2">
              <a:avLst/>
            </a:prstGeom>
            <a:ln>
              <a:solidFill>
                <a:schemeClr val="accent4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8" name="肘形连接符 137"/>
            <p:cNvCxnSpPr>
              <a:stCxn id="51" idx="3"/>
            </p:cNvCxnSpPr>
            <p:nvPr/>
          </p:nvCxnSpPr>
          <p:spPr>
            <a:xfrm>
              <a:off x="12062" y="4784"/>
              <a:ext cx="495" cy="547"/>
            </a:xfrm>
            <a:prstGeom prst="bentConnector2">
              <a:avLst/>
            </a:prstGeom>
            <a:ln>
              <a:solidFill>
                <a:schemeClr val="accent4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9" name="肘形连接符 138"/>
            <p:cNvCxnSpPr>
              <a:stCxn id="65" idx="3"/>
            </p:cNvCxnSpPr>
            <p:nvPr/>
          </p:nvCxnSpPr>
          <p:spPr>
            <a:xfrm flipV="1">
              <a:off x="11977" y="8986"/>
              <a:ext cx="6549" cy="1126"/>
            </a:xfrm>
            <a:prstGeom prst="bentConnector3">
              <a:avLst>
                <a:gd name="adj1" fmla="val 99969"/>
              </a:avLst>
            </a:prstGeom>
            <a:ln>
              <a:solidFill>
                <a:schemeClr val="accent5"/>
              </a:solidFill>
              <a:headEnd type="arrow" w="med" len="med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0" name="直接箭头连接符 139"/>
            <p:cNvCxnSpPr>
              <a:stCxn id="48" idx="1"/>
              <a:endCxn id="45" idx="3"/>
            </p:cNvCxnSpPr>
            <p:nvPr/>
          </p:nvCxnSpPr>
          <p:spPr>
            <a:xfrm flipH="1" flipV="1">
              <a:off x="13437" y="5967"/>
              <a:ext cx="1206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1" name="直接箭头连接符 140"/>
            <p:cNvCxnSpPr>
              <a:stCxn id="45" idx="2"/>
              <a:endCxn id="59" idx="0"/>
            </p:cNvCxnSpPr>
            <p:nvPr/>
          </p:nvCxnSpPr>
          <p:spPr>
            <a:xfrm>
              <a:off x="12886" y="6364"/>
              <a:ext cx="1" cy="26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2" name="直接箭头连接符 141"/>
            <p:cNvCxnSpPr>
              <a:stCxn id="59" idx="2"/>
              <a:endCxn id="62" idx="0"/>
            </p:cNvCxnSpPr>
            <p:nvPr/>
          </p:nvCxnSpPr>
          <p:spPr>
            <a:xfrm>
              <a:off x="12887" y="7418"/>
              <a:ext cx="1" cy="25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3" name="直接箭头连接符 142"/>
            <p:cNvCxnSpPr>
              <a:stCxn id="46" idx="1"/>
              <a:endCxn id="62" idx="3"/>
            </p:cNvCxnSpPr>
            <p:nvPr/>
          </p:nvCxnSpPr>
          <p:spPr>
            <a:xfrm flipH="1">
              <a:off x="13440" y="8071"/>
              <a:ext cx="230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4" name="直接箭头连接符 143"/>
            <p:cNvCxnSpPr>
              <a:stCxn id="62" idx="1"/>
              <a:endCxn id="63" idx="3"/>
            </p:cNvCxnSpPr>
            <p:nvPr/>
          </p:nvCxnSpPr>
          <p:spPr>
            <a:xfrm flipH="1">
              <a:off x="11979" y="8071"/>
              <a:ext cx="35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5" name="直接箭头连接符 144"/>
            <p:cNvCxnSpPr>
              <a:stCxn id="63" idx="1"/>
              <a:endCxn id="55" idx="3"/>
            </p:cNvCxnSpPr>
            <p:nvPr/>
          </p:nvCxnSpPr>
          <p:spPr>
            <a:xfrm flipH="1" flipV="1">
              <a:off x="8056" y="8017"/>
              <a:ext cx="2819" cy="5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6" name="直接箭头连接符 145"/>
            <p:cNvCxnSpPr>
              <a:stCxn id="63" idx="2"/>
              <a:endCxn id="60" idx="0"/>
            </p:cNvCxnSpPr>
            <p:nvPr/>
          </p:nvCxnSpPr>
          <p:spPr>
            <a:xfrm flipH="1">
              <a:off x="11426" y="8467"/>
              <a:ext cx="1" cy="19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7" name="直接箭头连接符 146"/>
            <p:cNvCxnSpPr>
              <a:stCxn id="60" idx="2"/>
              <a:endCxn id="65" idx="0"/>
            </p:cNvCxnSpPr>
            <p:nvPr/>
          </p:nvCxnSpPr>
          <p:spPr>
            <a:xfrm flipH="1">
              <a:off x="11425" y="9455"/>
              <a:ext cx="1" cy="26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8" name="直接箭头连接符 147"/>
            <p:cNvCxnSpPr>
              <a:stCxn id="65" idx="1"/>
              <a:endCxn id="66" idx="3"/>
            </p:cNvCxnSpPr>
            <p:nvPr/>
          </p:nvCxnSpPr>
          <p:spPr>
            <a:xfrm flipH="1">
              <a:off x="10521" y="10112"/>
              <a:ext cx="3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9" name="直接箭头连接符 148"/>
            <p:cNvCxnSpPr>
              <a:stCxn id="66" idx="1"/>
              <a:endCxn id="54" idx="3"/>
            </p:cNvCxnSpPr>
            <p:nvPr/>
          </p:nvCxnSpPr>
          <p:spPr>
            <a:xfrm flipH="1">
              <a:off x="8056" y="10112"/>
              <a:ext cx="136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" name="流程图: 或者 2"/>
            <p:cNvSpPr/>
            <p:nvPr/>
          </p:nvSpPr>
          <p:spPr>
            <a:xfrm>
              <a:off x="7463" y="4515"/>
              <a:ext cx="593" cy="593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7" name="肘形连接符 6"/>
            <p:cNvCxnSpPr>
              <a:stCxn id="17" idx="2"/>
              <a:endCxn id="3" idx="0"/>
            </p:cNvCxnSpPr>
            <p:nvPr/>
          </p:nvCxnSpPr>
          <p:spPr>
            <a:xfrm rot="5400000" flipV="1">
              <a:off x="4563" y="1318"/>
              <a:ext cx="2816" cy="3578"/>
            </a:xfrm>
            <a:prstGeom prst="bentConnector3">
              <a:avLst>
                <a:gd name="adj1" fmla="val 25213"/>
              </a:avLst>
            </a:prstGeom>
            <a:ln>
              <a:solidFill>
                <a:schemeClr val="tx1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肘形连接符 12"/>
            <p:cNvCxnSpPr>
              <a:stCxn id="18" idx="2"/>
              <a:endCxn id="3" idx="2"/>
            </p:cNvCxnSpPr>
            <p:nvPr/>
          </p:nvCxnSpPr>
          <p:spPr>
            <a:xfrm rot="5400000" flipV="1">
              <a:off x="5180" y="2529"/>
              <a:ext cx="1284" cy="3281"/>
            </a:xfrm>
            <a:prstGeom prst="bentConnector2">
              <a:avLst/>
            </a:prstGeom>
            <a:ln>
              <a:solidFill>
                <a:schemeClr val="tx1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肘形连接符 15"/>
            <p:cNvCxnSpPr>
              <a:stCxn id="3" idx="6"/>
              <a:endCxn id="56" idx="2"/>
            </p:cNvCxnSpPr>
            <p:nvPr/>
          </p:nvCxnSpPr>
          <p:spPr>
            <a:xfrm flipH="1">
              <a:off x="7504" y="4812"/>
              <a:ext cx="552" cy="1552"/>
            </a:xfrm>
            <a:prstGeom prst="bentConnector4">
              <a:avLst>
                <a:gd name="adj1" fmla="val -67935"/>
                <a:gd name="adj2" fmla="val 124162"/>
              </a:avLst>
            </a:prstGeom>
            <a:ln>
              <a:solidFill>
                <a:schemeClr val="tx1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" name="肘形连接符 26"/>
            <p:cNvCxnSpPr>
              <a:stCxn id="3" idx="6"/>
              <a:endCxn id="55" idx="2"/>
            </p:cNvCxnSpPr>
            <p:nvPr/>
          </p:nvCxnSpPr>
          <p:spPr>
            <a:xfrm flipH="1">
              <a:off x="7504" y="4812"/>
              <a:ext cx="552" cy="3601"/>
            </a:xfrm>
            <a:prstGeom prst="bentConnector4">
              <a:avLst>
                <a:gd name="adj1" fmla="val -67935"/>
                <a:gd name="adj2" fmla="val 110414"/>
              </a:avLst>
            </a:prstGeom>
            <a:ln>
              <a:solidFill>
                <a:schemeClr val="tx1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肘形连接符 30"/>
            <p:cNvCxnSpPr>
              <a:stCxn id="3" idx="6"/>
              <a:endCxn id="54" idx="0"/>
            </p:cNvCxnSpPr>
            <p:nvPr/>
          </p:nvCxnSpPr>
          <p:spPr>
            <a:xfrm flipH="1">
              <a:off x="7504" y="4812"/>
              <a:ext cx="552" cy="4904"/>
            </a:xfrm>
            <a:prstGeom prst="bentConnector4">
              <a:avLst>
                <a:gd name="adj1" fmla="val -67935"/>
                <a:gd name="adj2" fmla="val 93800"/>
              </a:avLst>
            </a:prstGeom>
            <a:ln>
              <a:solidFill>
                <a:schemeClr val="tx1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>
              <a:stCxn id="56" idx="1"/>
            </p:cNvCxnSpPr>
            <p:nvPr/>
          </p:nvCxnSpPr>
          <p:spPr>
            <a:xfrm flipH="1">
              <a:off x="6578" y="5968"/>
              <a:ext cx="37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>
              <a:stCxn id="55" idx="1"/>
            </p:cNvCxnSpPr>
            <p:nvPr/>
          </p:nvCxnSpPr>
          <p:spPr>
            <a:xfrm flipH="1">
              <a:off x="6601" y="8017"/>
              <a:ext cx="351" cy="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>
              <a:stCxn id="54" idx="1"/>
            </p:cNvCxnSpPr>
            <p:nvPr/>
          </p:nvCxnSpPr>
          <p:spPr>
            <a:xfrm flipH="1">
              <a:off x="6578" y="10112"/>
              <a:ext cx="374" cy="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" name="肘形连接符 1"/>
            <p:cNvCxnSpPr>
              <a:stCxn id="32" idx="2"/>
              <a:endCxn id="51" idx="0"/>
            </p:cNvCxnSpPr>
            <p:nvPr/>
          </p:nvCxnSpPr>
          <p:spPr>
            <a:xfrm rot="5400000" flipV="1">
              <a:off x="10766" y="3644"/>
              <a:ext cx="852" cy="635"/>
            </a:xfrm>
            <a:prstGeom prst="bentConnector3">
              <a:avLst>
                <a:gd name="adj1" fmla="val 49941"/>
              </a:avLst>
            </a:prstGeom>
            <a:ln>
              <a:solidFill>
                <a:schemeClr val="accent4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>
              <a:stCxn id="90" idx="2"/>
              <a:endCxn id="53" idx="0"/>
            </p:cNvCxnSpPr>
            <p:nvPr/>
          </p:nvCxnSpPr>
          <p:spPr>
            <a:xfrm>
              <a:off x="18442" y="1703"/>
              <a:ext cx="82" cy="2685"/>
            </a:xfrm>
            <a:prstGeom prst="straightConnector1">
              <a:avLst/>
            </a:prstGeom>
            <a:ln>
              <a:solidFill>
                <a:schemeClr val="accent5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" name="圆角矩形 28"/>
            <p:cNvSpPr/>
            <p:nvPr/>
          </p:nvSpPr>
          <p:spPr>
            <a:xfrm>
              <a:off x="112" y="10036"/>
              <a:ext cx="1026" cy="680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/>
                <a:t>Sv2B</a:t>
              </a:r>
              <a:endParaRPr lang="en-US" altLang="zh-CN" sz="1400"/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112" y="9248"/>
              <a:ext cx="1025" cy="682"/>
            </a:xfrm>
            <a:prstGeom prst="roundRect">
              <a:avLst/>
            </a:prstGeom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1"/>
            </a:gradFill>
            <a:ln w="6350"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/>
                <a:t>FSE</a:t>
              </a:r>
              <a:endParaRPr lang="en-US" altLang="zh-CN" sz="1600"/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112" y="8413"/>
              <a:ext cx="1026" cy="680"/>
            </a:xfrm>
            <a:prstGeom prst="roundRect">
              <a:avLst/>
            </a:prstGeom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/>
                <a:t>LDC</a:t>
              </a:r>
              <a:endParaRPr lang="en-US" altLang="zh-CN" sz="1600"/>
            </a:p>
          </p:txBody>
        </p:sp>
        <p:sp>
          <p:nvSpPr>
            <p:cNvPr id="49" name="矩形 48"/>
            <p:cNvSpPr/>
            <p:nvPr/>
          </p:nvSpPr>
          <p:spPr>
            <a:xfrm>
              <a:off x="11511" y="762"/>
              <a:ext cx="2445" cy="3109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  <a:prstDash val="dash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14123" y="762"/>
              <a:ext cx="4953" cy="1079"/>
            </a:xfrm>
            <a:prstGeom prst="rect">
              <a:avLst/>
            </a:prstGeom>
            <a:noFill/>
            <a:ln w="9525">
              <a:solidFill>
                <a:schemeClr val="accent5"/>
              </a:solidFill>
              <a:prstDash val="dash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072" y="9337"/>
              <a:ext cx="320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Frequency-Spatial Encoder</a:t>
              </a:r>
              <a:endParaRPr lang="en-US" altLang="zh-CN" sz="1200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072" y="7744"/>
              <a:ext cx="354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Detail-Semantic Dual Attention</a:t>
              </a:r>
              <a:endParaRPr lang="zh-CN" altLang="en-US" sz="1200"/>
            </a:p>
          </p:txBody>
        </p:sp>
        <p:sp>
          <p:nvSpPr>
            <p:cNvPr id="68" name="圆角矩形 67"/>
            <p:cNvSpPr/>
            <p:nvPr/>
          </p:nvSpPr>
          <p:spPr>
            <a:xfrm>
              <a:off x="112" y="7621"/>
              <a:ext cx="1026" cy="680"/>
            </a:xfrm>
            <a:prstGeom prst="roundRect">
              <a:avLst/>
            </a:prstGeom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bg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DSDA</a:t>
              </a:r>
              <a:endParaRPr lang="en-US" altLang="zh-CN" sz="1200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072" y="10142"/>
              <a:ext cx="235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ShuffleNetV2Block</a:t>
              </a:r>
              <a:endParaRPr lang="zh-CN" altLang="en-US" sz="1200"/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072" y="8552"/>
              <a:ext cx="382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Long-range Detail Compensation</a:t>
              </a:r>
              <a:endParaRPr lang="zh-CN" altLang="en-US" sz="1200"/>
            </a:p>
          </p:txBody>
        </p:sp>
        <p:cxnSp>
          <p:nvCxnSpPr>
            <p:cNvPr id="80" name="直接箭头连接符 79"/>
            <p:cNvCxnSpPr/>
            <p:nvPr/>
          </p:nvCxnSpPr>
          <p:spPr>
            <a:xfrm flipV="1">
              <a:off x="112" y="5866"/>
              <a:ext cx="1057" cy="13"/>
            </a:xfrm>
            <a:prstGeom prst="straightConnector1">
              <a:avLst/>
            </a:prstGeom>
            <a:ln w="6350">
              <a:solidFill>
                <a:schemeClr val="accent5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1" name="直接箭头连接符 80"/>
            <p:cNvCxnSpPr/>
            <p:nvPr/>
          </p:nvCxnSpPr>
          <p:spPr>
            <a:xfrm flipV="1">
              <a:off x="112" y="5385"/>
              <a:ext cx="1057" cy="13"/>
            </a:xfrm>
            <a:prstGeom prst="straightConnector1">
              <a:avLst/>
            </a:prstGeom>
            <a:ln w="6350">
              <a:solidFill>
                <a:schemeClr val="accent6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0" name="直接箭头连接符 99"/>
            <p:cNvCxnSpPr/>
            <p:nvPr/>
          </p:nvCxnSpPr>
          <p:spPr>
            <a:xfrm flipV="1">
              <a:off x="112" y="4960"/>
              <a:ext cx="1057" cy="13"/>
            </a:xfrm>
            <a:prstGeom prst="straightConnector1">
              <a:avLst/>
            </a:prstGeom>
            <a:ln w="6350">
              <a:solidFill>
                <a:schemeClr val="accent4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1" name="文本框 100"/>
            <p:cNvSpPr txBox="1"/>
            <p:nvPr/>
          </p:nvSpPr>
          <p:spPr>
            <a:xfrm>
              <a:off x="1183" y="4746"/>
              <a:ext cx="286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shallow feature stream</a:t>
              </a:r>
              <a:endParaRPr lang="zh-CN" altLang="en-US" sz="1200"/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1137" y="5180"/>
              <a:ext cx="320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middle-level feature stream</a:t>
              </a:r>
              <a:endParaRPr lang="zh-CN" altLang="en-US" sz="1200"/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1137" y="5656"/>
              <a:ext cx="246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deep feature stream</a:t>
              </a:r>
              <a:endParaRPr lang="zh-CN" altLang="en-US" sz="1200"/>
            </a:p>
          </p:txBody>
        </p:sp>
        <p:sp>
          <p:nvSpPr>
            <p:cNvPr id="105" name="流程图: 或者 104"/>
            <p:cNvSpPr/>
            <p:nvPr/>
          </p:nvSpPr>
          <p:spPr>
            <a:xfrm>
              <a:off x="386" y="6114"/>
              <a:ext cx="510" cy="510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6" name="椭圆 105"/>
            <p:cNvSpPr>
              <a:spLocks noChangeAspect="1"/>
            </p:cNvSpPr>
            <p:nvPr/>
          </p:nvSpPr>
          <p:spPr>
            <a:xfrm>
              <a:off x="386" y="6907"/>
              <a:ext cx="511" cy="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C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1116" y="6166"/>
              <a:ext cx="77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Add</a:t>
              </a:r>
              <a:endParaRPr lang="en-US" altLang="zh-CN" sz="1200"/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1072" y="6907"/>
              <a:ext cx="1062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Concat</a:t>
              </a:r>
              <a:endParaRPr lang="en-US" altLang="zh-CN" sz="1200"/>
            </a:p>
          </p:txBody>
        </p:sp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</Words>
  <Application>WPS 演示</Application>
  <PresentationFormat>宽屏</PresentationFormat>
  <Paragraphs>116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刘文超</cp:lastModifiedBy>
  <cp:revision>181</cp:revision>
  <dcterms:created xsi:type="dcterms:W3CDTF">2019-06-19T02:08:00Z</dcterms:created>
  <dcterms:modified xsi:type="dcterms:W3CDTF">2026-06-03T07:19:54Z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5FB1FE5A81B4467C9783B837FBD0B1C8_11</vt:lpwstr>
  </property>
</Properties>
</file>